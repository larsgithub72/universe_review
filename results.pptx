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Quality Momentum Univ Part I 4bn MktCap / 100k Liq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Analysis Date: 28/01/2026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Total Stocks: 3,158 | Total Market Cap: $2,984,782.08M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Universe Summary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400"/>
            </a:pPr>
            <a:r>
              <a:t>Total Number of Stocks: 3,158</a:t>
            </a:r>
          </a:p>
          <a:p>
            <a:pPr>
              <a:spcAft>
                <a:spcPts val="1800"/>
              </a:spcAft>
              <a:defRPr sz="2400"/>
            </a:pPr>
          </a:p>
          <a:p>
            <a:pPr>
              <a:spcAft>
                <a:spcPts val="1800"/>
              </a:spcAft>
              <a:defRPr sz="2400"/>
            </a:pPr>
            <a:r>
              <a:t>Total Market Cap: $2,984,782.08M</a:t>
            </a:r>
          </a:p>
          <a:p>
            <a:pPr>
              <a:spcAft>
                <a:spcPts val="1800"/>
              </a:spcAft>
              <a:defRPr sz="2400"/>
            </a:pPr>
          </a:p>
          <a:p>
            <a:pPr>
              <a:spcAft>
                <a:spcPts val="1800"/>
              </a:spcAft>
              <a:defRPr sz="2400"/>
            </a:pPr>
            <a:r>
              <a:t>Average Market Cap: $945.15M</a:t>
            </a:r>
          </a:p>
          <a:p>
            <a:pPr>
              <a:spcAft>
                <a:spcPts val="1800"/>
              </a:spcAft>
              <a:defRPr sz="2400"/>
            </a:pPr>
          </a:p>
          <a:p>
            <a:pPr>
              <a:spcAft>
                <a:spcPts val="1800"/>
              </a:spcAft>
              <a:defRPr sz="2400"/>
            </a:pPr>
            <a:r>
              <a:t>Median Market Cap: $431.30M</a:t>
            </a:r>
          </a:p>
          <a:p>
            <a:pPr>
              <a:spcAft>
                <a:spcPts val="1800"/>
              </a:spcAft>
              <a:defRPr sz="2400"/>
            </a:pPr>
          </a:p>
          <a:p>
            <a:pPr>
              <a:spcAft>
                <a:spcPts val="1800"/>
              </a:spcAft>
              <a:defRPr sz="2400"/>
            </a:pPr>
            <a:r>
              <a:t>Number of Sectors: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Stock Count by Sector</a:t>
            </a:r>
          </a:p>
        </p:txBody>
      </p:sp>
      <p:pic>
        <p:nvPicPr>
          <p:cNvPr id="3" name="Picture 2" descr="sect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Total Market Cap by Sector</a:t>
            </a:r>
          </a:p>
        </p:txBody>
      </p:sp>
      <p:pic>
        <p:nvPicPr>
          <p:cNvPr id="3" name="Picture 2" descr="sector_market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20 Stocks by Market Capitalization</a:t>
            </a:r>
          </a:p>
        </p:txBody>
      </p:sp>
      <p:pic>
        <p:nvPicPr>
          <p:cNvPr id="3" name="Picture 2" descr="top_20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Cap Distribution</a:t>
            </a:r>
          </a:p>
        </p:txBody>
      </p:sp>
      <p:pic>
        <p:nvPicPr>
          <p:cNvPr id="3" name="Picture 2" descr="marketcap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Market Cap Distribution by Sector</a:t>
            </a:r>
          </a:p>
        </p:txBody>
      </p:sp>
      <p:pic>
        <p:nvPicPr>
          <p:cNvPr id="3" name="Picture 2" descr="marketcap_by_secto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Earnings Yield vs Free Cash Flow Yield</a:t>
            </a:r>
          </a:p>
        </p:txBody>
      </p:sp>
      <p:pic>
        <p:nvPicPr>
          <p:cNvPr id="3" name="Picture 2" descr="yiel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